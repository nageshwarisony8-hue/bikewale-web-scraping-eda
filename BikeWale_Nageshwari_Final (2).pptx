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2712567" y="3794760"/>
            <a:ext cx="6766560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t>                                BikeWale Web Scraping &amp; EDA </a:t>
            </a:r>
            <a:endParaRPr 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0"/>
              </a:spcAft>
            </a:pPr>
            <a:r>
              <a:t>                          Bike Market Analysis using Python &amp; Data Analytics</a:t>
            </a:r>
          </a:p>
          <a:p>
            <a:pPr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03"/>
          <p:cNvSpPr txBox="1"/>
          <p:nvPr/>
        </p:nvSpPr>
        <p:spPr>
          <a:xfrm>
            <a:off x="685800" y="384048"/>
            <a:ext cx="5303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About Me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13232" y="932688"/>
            <a:ext cx="6858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685800" y="150876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87095" y="1753143"/>
            <a:ext cx="2971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IN" dirty="0"/>
              <a:t>Auti Nageshwari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" y="2240280"/>
            <a:ext cx="2971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32688" y="2743200"/>
            <a:ext cx="2926080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>
                <a:latin typeface="Times New Roman"/>
              </a:rPr>
              <a:t>• Background: B.Tech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0"/>
              </a:spcAft>
            </a:pPr>
            <a:r>
              <a:rPr>
                <a:latin typeface="Times New Roman"/>
              </a:rPr>
              <a:t>• Skills: Python, Pandas, NumPy, Regex, EDA</a:t>
            </a:r>
          </a:p>
          <a:p>
            <a:pPr>
              <a:spcAft>
                <a:spcPts val="0"/>
              </a:spcAft>
            </a:pPr>
            <a:r>
              <a:rPr>
                <a:latin typeface="Times New Roman"/>
              </a:rPr>
              <a:t>• Aspiring Data Analyst</a:t>
            </a:r>
          </a:p>
          <a:p>
            <a:pPr>
              <a:spcAft>
                <a:spcPts val="0"/>
              </a:spcAft>
            </a:pPr>
            <a:r>
              <a:rPr>
                <a:latin typeface="Times New Roman"/>
              </a:rPr>
              <a:t>• Web Scraping &amp; Data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228881-B348-4DCC-65C9-D857751D3F72}"/>
              </a:ext>
            </a:extLst>
          </p:cNvPr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09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PROJECT FLOW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Agenda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39470" y="1485265"/>
            <a:ext cx="9875520" cy="507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0"/>
              </a:spcAft>
            </a:pPr>
            <a:r>
              <a:t>• 01  Project Objective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0"/>
              </a:spcAft>
            </a:pPr>
            <a:r>
              <a:t>• 02  Key Analysis Questions / Use Cases</a:t>
            </a:r>
          </a:p>
          <a:p>
            <a:pPr>
              <a:spcAft>
                <a:spcPts val="0"/>
              </a:spcAft>
            </a:pPr>
            <a:r>
              <a:t>• 03  Website, Scraping &amp; Dataset</a:t>
            </a:r>
          </a:p>
          <a:p>
            <a:pPr>
              <a:spcAft>
                <a:spcPts val="0"/>
              </a:spcAft>
            </a:pPr>
            <a:r>
              <a:t>• 04  Bike Price &amp; Brand Analysis</a:t>
            </a:r>
          </a:p>
          <a:p>
            <a:pPr>
              <a:spcAft>
                <a:spcPts val="0"/>
              </a:spcAft>
            </a:pPr>
            <a:r>
              <a:t>• 05  Engine, Mileage &amp; Performance Analysis</a:t>
            </a:r>
          </a:p>
          <a:p>
            <a:pPr>
              <a:spcAft>
                <a:spcPts val="0"/>
              </a:spcAft>
            </a:pPr>
            <a:r>
              <a:t>• 06  Ratings &amp; Feature Analysis</a:t>
            </a:r>
          </a:p>
          <a:p>
            <a:pPr>
              <a:spcAft>
                <a:spcPts val="0"/>
              </a:spcAft>
            </a:pPr>
            <a:r>
              <a:t>• 07  Key Findings &amp; Recommendations</a:t>
            </a:r>
          </a:p>
          <a:p>
            <a:pPr>
              <a:spcAft>
                <a:spcPts val="0"/>
              </a:spcAft>
            </a:pPr>
            <a:r>
              <a:t>• 08  Experience / Challenges</a:t>
            </a:r>
          </a:p>
          <a:p>
            <a:pPr>
              <a:spcAft>
                <a:spcPts val="0"/>
              </a:spcAft>
            </a:pPr>
            <a:r>
              <a:t>• 09  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Objective of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10058400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0"/>
              </a:spcAft>
            </a:pPr>
            <a:r>
              <a:t>• Collect structured bike information from the BikeWale website using web scraping.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0"/>
              </a:spcAft>
            </a:pPr>
            <a:r>
              <a:t>• Clean and preprocess bike specifications for analysis.</a:t>
            </a:r>
          </a:p>
          <a:p>
            <a:pPr>
              <a:spcAft>
                <a:spcPts val="0"/>
              </a:spcAft>
            </a:pPr>
            <a:r>
              <a:t>• Compare brands, models, prices and key technical features.</a:t>
            </a:r>
          </a:p>
          <a:p>
            <a:pPr>
              <a:spcAft>
                <a:spcPts val="0"/>
              </a:spcAft>
            </a:pPr>
            <a:r>
              <a:t>• Analyze engine capacity, mileage, power and weight relationships.</a:t>
            </a:r>
          </a:p>
          <a:p>
            <a:pPr>
              <a:spcAft>
                <a:spcPts val="0"/>
              </a:spcAft>
            </a:pPr>
            <a:r>
              <a:t>• Examine ratings and other buyer-oriented attributes.</a:t>
            </a:r>
          </a:p>
          <a:p>
            <a:pPr>
              <a:spcAft>
                <a:spcPts val="0"/>
              </a:spcAft>
            </a:pPr>
            <a:r>
              <a:t>• Convert scraped web data into clear market insights and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Analysis Questions / Use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536192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508760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Which bike brands and models show the strongest price positioning?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58568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350008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How do engine capacity, power, mileage and weight vary across bikes?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99816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218688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191256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Which features help distinguish commuter, premium and performance bikes?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41064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059936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Brands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032504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Which brands have the strongest representation in the collected data?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782312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901184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Ratings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873752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How are ratings distributed across different bike models and brands?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Dataset Scale &amp; Scraping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Bike Listings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442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BikeWale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9+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8346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" y="295351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Data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336499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Current Bike Listings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8346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35424" y="295351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Source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36499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New Bike Listings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8346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38744" y="295351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Core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336499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Brand, Model, Price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40" y="4434840"/>
            <a:ext cx="4160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37944" y="4553712"/>
            <a:ext cx="386791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Specifications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37944" y="4965192"/>
            <a:ext cx="3867911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Engine, Mileage, Power, Weight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37944" y="5422392"/>
            <a:ext cx="3867911" cy="64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Price, Rating &amp; Reviews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434840"/>
            <a:ext cx="4160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9944" y="4553712"/>
            <a:ext cx="386791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4965192"/>
            <a:ext cx="3867911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Website → Scraping → Cleaning → EDA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5422392"/>
            <a:ext cx="3867911" cy="64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Python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Bike Price &amp; Brand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Price Positioning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Varies by brand &amp;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Different price segments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Premium 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Higher-priced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Often combine higher performance specs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Brand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Multiple established brands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Across commuter to premium segments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794760"/>
            <a:ext cx="3657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06624" y="3913632"/>
            <a:ext cx="3364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Market Segments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4325112"/>
            <a:ext cx="336499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Commuter → Mid-range → Premium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6624" y="4782312"/>
            <a:ext cx="33649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Different buyer priorities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79476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4264" y="391363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Key Price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432511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Brand +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4782312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Drive major price differences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Engine, Mileage &amp;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Engine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Higher cc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generally focus on 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Mileage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Commuter bikes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emphasize fuel efficiency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Power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54022"/>
            <a:ext cx="3044952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Performance-oriented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show higher power figures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794760"/>
            <a:ext cx="3657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06624" y="3913632"/>
            <a:ext cx="3364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Weight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4325112"/>
            <a:ext cx="336499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Varies with engine &amp;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6624" y="4782312"/>
            <a:ext cx="33649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across bike categories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79476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4264" y="391363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Key Performance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432511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Engine + Power + Mileage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4782312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Create clear segment differences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Bike Features &amp; Ratings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Engine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 major comparison 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Core bike specification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Mileage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Important for commuter buyers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Fuel-efficiency indicator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Power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Useful for performance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Performance indicator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657600"/>
            <a:ext cx="3657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06624" y="3776472"/>
            <a:ext cx="3364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Ratings &amp; Reviews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4187952"/>
            <a:ext cx="336499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Support model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6624" y="4645152"/>
            <a:ext cx="3364992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Buyer-oriented signals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6576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4264" y="377647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Feature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418795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Specifications + Ratings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4645152"/>
            <a:ext cx="3044952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Support practical bike selection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Brand &amp; Market Variation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Brand Variation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Different brands 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different price segments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Model Variation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Specifications differ widely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across bike categories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Price ↔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Price changes with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engine capacity &amp; power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3794760"/>
            <a:ext cx="3749039" cy="1613916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89504" y="3913632"/>
            <a:ext cx="34564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Rating ↔ Model Choice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9504" y="4325112"/>
            <a:ext cx="3456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Ratings provide an additional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9504" y="4782312"/>
            <a:ext cx="34564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ratings across models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3794761"/>
            <a:ext cx="2834640" cy="1586484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58584" y="3821676"/>
            <a:ext cx="2542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buyer-oriented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4325112"/>
            <a:ext cx="25420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dirty="0"/>
              <a:t>create useful market comparisons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905756"/>
            <a:ext cx="25420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rPr dirty="0"/>
              <a:t>Brand + Price + Features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Bike Segment &amp; Trend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Commuter Bikes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Focus on mileage,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affordability and practicality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Mid-range Bikes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Balance price,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features and performance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Premium Bikes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Higher engine capacity,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power and pricing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3657600"/>
            <a:ext cx="8092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31720" y="3886200"/>
            <a:ext cx="37490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Segment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822191"/>
            <a:ext cx="3794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Buyer priorities vary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370832"/>
            <a:ext cx="3794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across bike categories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Dashboard – Decision-Ready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70" y="1341120"/>
            <a:ext cx="10149840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0"/>
              </a:spcAft>
            </a:pPr>
            <a:r>
              <a:rPr dirty="0"/>
              <a:t>• </a:t>
            </a:r>
            <a:r>
              <a:rPr dirty="0" err="1"/>
              <a:t>BikeWale</a:t>
            </a:r>
            <a:r>
              <a:rPr dirty="0"/>
              <a:t> provides structured information for comparing bike models.</a:t>
            </a: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dirty="0"/>
              <a:t>• Price, engine, mileage, power, weight and ratings are key comparison fields.</a:t>
            </a:r>
          </a:p>
          <a:p>
            <a:r>
              <a:rPr dirty="0"/>
              <a:t>• Brand-wise analysis helps identify market positioning.</a:t>
            </a:r>
          </a:p>
          <a:p>
            <a:r>
              <a:rPr dirty="0"/>
              <a:t>• Segment-wise analysis supports commuter vs performance comparisons.</a:t>
            </a:r>
          </a:p>
          <a:p>
            <a:r>
              <a:rPr dirty="0"/>
              <a:t>• Visualizations make specification differences easier to understand.</a:t>
            </a:r>
          </a:p>
          <a:p>
            <a:r>
              <a:rPr dirty="0"/>
              <a:t>• Raw data → cleaning → analysis → insight → recommendation.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Conclusion – Key Findings Overall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10058400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0"/>
              </a:spcAft>
            </a:pPr>
            <a:r>
              <a:rPr dirty="0"/>
              <a:t>• </a:t>
            </a:r>
            <a:r>
              <a:rPr dirty="0" err="1"/>
              <a:t>BikeWale</a:t>
            </a:r>
            <a:r>
              <a:rPr dirty="0"/>
              <a:t> data supports systematic comparison of bikes across brands and models.</a:t>
            </a: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0"/>
              </a:spcAft>
            </a:pPr>
            <a:r>
              <a:rPr dirty="0"/>
              <a:t>• Price differs substantially across commuter, mid-range and premium segments.</a:t>
            </a:r>
          </a:p>
          <a:p>
            <a:pPr>
              <a:spcAft>
                <a:spcPts val="0"/>
              </a:spcAft>
            </a:pPr>
            <a:r>
              <a:rPr dirty="0"/>
              <a:t>• Engine capacity and power are important performance indicators.</a:t>
            </a:r>
          </a:p>
          <a:p>
            <a:pPr>
              <a:spcAft>
                <a:spcPts val="0"/>
              </a:spcAft>
            </a:pPr>
            <a:r>
              <a:rPr dirty="0"/>
              <a:t>• Mileage remains a key differentiator for commuter-oriented bikes.</a:t>
            </a:r>
          </a:p>
          <a:p>
            <a:pPr>
              <a:spcAft>
                <a:spcPts val="0"/>
              </a:spcAft>
            </a:pPr>
            <a:r>
              <a:rPr dirty="0"/>
              <a:t>• Ratings and specifications improve buyer-focused model comparison.</a:t>
            </a:r>
          </a:p>
          <a:p>
            <a:pPr>
              <a:spcAft>
                <a:spcPts val="0"/>
              </a:spcAft>
            </a:pPr>
            <a:r>
              <a:rPr dirty="0"/>
              <a:t>• Combining scraping, cleaning and EDA converts web data into actionable market insights.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t>Experience / Challenges Working on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12598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70" y="1628775"/>
            <a:ext cx="9052560" cy="141668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200000"/>
              </a:lnSpc>
              <a:spcAft>
                <a:spcPts val="0"/>
              </a:spcAft>
            </a:pPr>
            <a:r>
              <a:t>• Learned how to identify useful fields from a real-world website.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0"/>
              </a:spcAft>
            </a:pPr>
            <a:r>
              <a:t>• Practiced web scraping and extracting structured information from web pages.</a:t>
            </a:r>
          </a:p>
          <a:p>
            <a:pPr>
              <a:spcAft>
                <a:spcPts val="0"/>
              </a:spcAft>
            </a:pPr>
            <a:r>
              <a:t>• Used Regex for pattern matching and data extraction.</a:t>
            </a:r>
          </a:p>
          <a:p>
            <a:pPr>
              <a:spcAft>
                <a:spcPts val="0"/>
              </a:spcAft>
            </a:pPr>
            <a:r>
              <a:t>• Cleaned missing, duplicate and inconsistent values before EDA.</a:t>
            </a:r>
          </a:p>
          <a:p>
            <a:pPr>
              <a:spcAft>
                <a:spcPts val="0"/>
              </a:spcAft>
            </a:pPr>
            <a:r>
              <a:t>• Built visualizations to communicate bike-market patterns clearly.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11625"/>
            <a:ext cx="8138160" cy="110680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spcAft>
                <a:spcPts val="0"/>
              </a:spcAft>
            </a:pP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087120"/>
            <a:ext cx="10214610" cy="4839335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4496846" y="0"/>
            <a:ext cx="319831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dirty="0"/>
              <a:t>Thank You</a:t>
            </a:r>
            <a:endParaRPr lang="en-IN" sz="3000" b="1" dirty="0"/>
          </a:p>
          <a:p>
            <a:pPr algn="ctr"/>
            <a:r>
              <a:rPr lang="en-IN" sz="3000" b="1" dirty="0"/>
              <a:t>Auti Nageshwari</a:t>
            </a:r>
            <a:endParaRPr sz="3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759</Words>
  <Application>Microsoft Office PowerPoint</Application>
  <PresentationFormat>Widescreen</PresentationFormat>
  <Paragraphs>166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Nageshwari Auti</cp:lastModifiedBy>
  <cp:revision>4</cp:revision>
  <dcterms:created xsi:type="dcterms:W3CDTF">2026-08-26T13:12:00Z</dcterms:created>
  <dcterms:modified xsi:type="dcterms:W3CDTF">2026-09-15T13:22:19Z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27B7EC72186548A9B24412B379D8FD83_13</vt:lpwstr>
  </property>
</Properties>
</file>